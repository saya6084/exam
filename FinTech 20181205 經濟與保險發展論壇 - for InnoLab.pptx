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bookmarkIdSeed="2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611" r:id="rId2"/>
    <p:sldId id="1568" r:id="rId3"/>
    <p:sldId id="1605" r:id="rId4"/>
    <p:sldId id="1588" r:id="rId5"/>
    <p:sldId id="1539" r:id="rId6"/>
    <p:sldId id="1466" r:id="rId7"/>
  </p:sldIdLst>
  <p:sldSz cx="9144000" cy="6858000" type="screen4x3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D7EA"/>
    <a:srgbClr val="B1C7E1"/>
    <a:srgbClr val="009900"/>
    <a:srgbClr val="C4E59F"/>
    <a:srgbClr val="FFCDCD"/>
    <a:srgbClr val="FF43FF"/>
    <a:srgbClr val="65FF65"/>
    <a:srgbClr val="800080"/>
    <a:srgbClr val="FFFF97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FD4443E-F989-4FC4-A0C8-D5A2AF1F390B}" styleName="深色樣式 1 - 輔色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202B0CA-FC54-4496-8BCA-5EF66A818D29}" styleName="深色樣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中等深淺樣式 1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23" autoAdjust="0"/>
    <p:restoredTop sz="93091" autoAdjust="0"/>
  </p:normalViewPr>
  <p:slideViewPr>
    <p:cSldViewPr>
      <p:cViewPr varScale="1">
        <p:scale>
          <a:sx n="75" d="100"/>
          <a:sy n="75" d="100"/>
        </p:scale>
        <p:origin x="1329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1566" y="1470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6400" cy="496809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90" y="0"/>
            <a:ext cx="2946400" cy="496809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r">
              <a:defRPr sz="1200"/>
            </a:lvl1pPr>
          </a:lstStyle>
          <a:p>
            <a:fld id="{B00A291C-56FF-4AC6-9DCB-A804C3CA3E01}" type="datetimeFigureOut">
              <a:rPr lang="zh-TW" altLang="en-US" smtClean="0"/>
              <a:pPr/>
              <a:t>2018/12/7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2" y="9428244"/>
            <a:ext cx="2946400" cy="496809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90" y="9428244"/>
            <a:ext cx="2946400" cy="496809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r">
              <a:defRPr sz="1200"/>
            </a:lvl1pPr>
          </a:lstStyle>
          <a:p>
            <a:fld id="{F764BF5F-B68B-4BD5-A10E-71C0EFF9F67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91652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45659" cy="496332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6" y="2"/>
            <a:ext cx="2945659" cy="496332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r">
              <a:defRPr sz="1200"/>
            </a:lvl1pPr>
          </a:lstStyle>
          <a:p>
            <a:fld id="{232EE313-5606-4138-9A42-3C4A834A95F1}" type="datetimeFigureOut">
              <a:rPr lang="zh-TW" altLang="en-US" smtClean="0"/>
              <a:pPr/>
              <a:t>2018/12/7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1" tIns="45706" rIns="91411" bIns="45706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15156"/>
            <a:ext cx="5438140" cy="4466987"/>
          </a:xfrm>
          <a:prstGeom prst="rect">
            <a:avLst/>
          </a:prstGeom>
        </p:spPr>
        <p:txBody>
          <a:bodyPr vert="horz" lIns="91411" tIns="45706" rIns="91411" bIns="45706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3" y="9428586"/>
            <a:ext cx="2945659" cy="496332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6" y="9428586"/>
            <a:ext cx="2945659" cy="496332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r">
              <a:defRPr sz="1200"/>
            </a:lvl1pPr>
          </a:lstStyle>
          <a:p>
            <a:fld id="{6B3613EC-BA79-4A33-9520-C829EE1635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150934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3613EC-BA79-4A33-9520-C829EE163577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2054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3613EC-BA79-4A33-9520-C829EE163577}" type="slidenum">
              <a:rPr lang="zh-TW" altLang="en-US" smtClean="0">
                <a:solidFill>
                  <a:prstClr val="black"/>
                </a:solidFill>
              </a:rPr>
              <a:pPr/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157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71C0F-F639-4D35-A52E-F9C9FA966B1A}" type="datetime1">
              <a:rPr lang="zh-TW" altLang="en-US" smtClean="0"/>
              <a:pPr/>
              <a:t>2018/12/7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7010432" y="6643710"/>
            <a:ext cx="2133600" cy="285752"/>
          </a:xfrm>
        </p:spPr>
        <p:txBody>
          <a:bodyPr/>
          <a:lstStyle/>
          <a:p>
            <a:fld id="{E7129BC9-AEDB-436A-80F0-0441055FB86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F6B94-90EE-4E34-B014-C32C88B1C0EB}" type="datetime1">
              <a:rPr lang="zh-TW" altLang="en-US" smtClean="0"/>
              <a:pPr/>
              <a:t>2018/12/7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7010432" y="6564337"/>
            <a:ext cx="2133600" cy="365125"/>
          </a:xfrm>
        </p:spPr>
        <p:txBody>
          <a:bodyPr/>
          <a:lstStyle/>
          <a:p>
            <a:fld id="{E7129BC9-AEDB-436A-80F0-0441055FB8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4CAE-2E48-4240-A76C-889A97C5DAF9}" type="datetime1">
              <a:rPr lang="zh-TW" altLang="en-US" smtClean="0"/>
              <a:pPr/>
              <a:t>2018/12/7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29BC9-AEDB-436A-80F0-0441055FB8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5C715-3BCF-4C0F-B4E6-701897888553}" type="datetime1">
              <a:rPr lang="zh-TW" altLang="en-US" smtClean="0"/>
              <a:pPr/>
              <a:t>2018/12/7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29BC9-AEDB-436A-80F0-0441055FB8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B8774-859B-4309-9AB3-54E83A0360C0}" type="datetime1">
              <a:rPr lang="zh-TW" altLang="en-US" smtClean="0"/>
              <a:pPr/>
              <a:t>2018/12/7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29BC9-AEDB-436A-80F0-0441055FB8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0D071-EEC3-4C13-A1B7-082B0AC9B206}" type="datetime1">
              <a:rPr lang="zh-TW" altLang="en-US" smtClean="0"/>
              <a:pPr/>
              <a:t>2018/12/7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29BC9-AEDB-436A-80F0-0441055FB8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520FE-533A-40B0-8803-728938711FB7}" type="datetime1">
              <a:rPr lang="zh-TW" altLang="en-US" smtClean="0"/>
              <a:pPr/>
              <a:t>2018/12/7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29BC9-AEDB-436A-80F0-0441055FB8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8642-A817-4AF5-A4BE-D23984CE2859}" type="datetime1">
              <a:rPr lang="zh-TW" altLang="en-US" smtClean="0"/>
              <a:pPr/>
              <a:t>2018/12/7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29BC9-AEDB-436A-80F0-0441055FB8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972A4-42D3-4D49-B811-D15DABACBD3B}" type="datetime1">
              <a:rPr lang="zh-TW" altLang="en-US" smtClean="0"/>
              <a:pPr/>
              <a:t>2018/12/7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29BC9-AEDB-436A-80F0-0441055FB8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8B1CC-DEE2-40D8-BAE7-E238C083CDA1}" type="datetime1">
              <a:rPr lang="zh-TW" altLang="en-US" smtClean="0"/>
              <a:pPr/>
              <a:t>2018/12/7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29BC9-AEDB-436A-80F0-0441055FB8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46A22-2AC9-4764-8CCF-1DC878E6541E}" type="datetime1">
              <a:rPr lang="zh-TW" altLang="en-US" smtClean="0"/>
              <a:pPr/>
              <a:t>2018/12/7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29BC9-AEDB-436A-80F0-0441055FB8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7F0DB-1779-4FF6-844B-5EE1670A1EDF}" type="datetime1">
              <a:rPr lang="zh-TW" altLang="en-US" smtClean="0"/>
              <a:pPr/>
              <a:t>2018/12/7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7010432" y="656433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29BC9-AEDB-436A-80F0-0441055FB86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90" y="1438902"/>
            <a:ext cx="3048000" cy="155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81742" y="1451066"/>
            <a:ext cx="3103957" cy="1533673"/>
          </a:xfrm>
          <a:prstGeom prst="rect">
            <a:avLst/>
          </a:prstGeom>
        </p:spPr>
      </p:pic>
      <p:sp>
        <p:nvSpPr>
          <p:cNvPr id="5" name="弧形向右箭號 4"/>
          <p:cNvSpPr/>
          <p:nvPr/>
        </p:nvSpPr>
        <p:spPr>
          <a:xfrm>
            <a:off x="1328042" y="4571119"/>
            <a:ext cx="1061569" cy="161313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4" name="弧形箭號 (左彎) 3"/>
          <p:cNvSpPr/>
          <p:nvPr/>
        </p:nvSpPr>
        <p:spPr>
          <a:xfrm>
            <a:off x="6165489" y="4626555"/>
            <a:ext cx="1122437" cy="1613137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33" name="圓角矩形圖說文字 32"/>
          <p:cNvSpPr/>
          <p:nvPr/>
        </p:nvSpPr>
        <p:spPr>
          <a:xfrm>
            <a:off x="5558383" y="3131519"/>
            <a:ext cx="3089717" cy="1475865"/>
          </a:xfrm>
          <a:prstGeom prst="wedgeRoundRectCallout">
            <a:avLst>
              <a:gd name="adj1" fmla="val 2813"/>
              <a:gd name="adj2" fmla="val -67096"/>
              <a:gd name="adj3" fmla="val 16667"/>
            </a:avLst>
          </a:prstGeom>
          <a:solidFill>
            <a:srgbClr val="C76361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n-US" altLang="zh-TW" sz="1600" b="1" dirty="0">
                <a:solidFill>
                  <a:prstClr val="white"/>
                </a:solidFill>
                <a:latin typeface="Gill Sans MT" panose="020B0502020104020203" pitchFamily="34" charset="0"/>
                <a:ea typeface="微軟正黑體" panose="020B0604030504040204" pitchFamily="34" charset="-120"/>
              </a:rPr>
              <a:t>Technology  development driven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TW" sz="1600" b="1" dirty="0">
                <a:solidFill>
                  <a:prstClr val="white"/>
                </a:solidFill>
                <a:latin typeface="Gill Sans MT" panose="020B0502020104020203" pitchFamily="34" charset="0"/>
                <a:ea typeface="微軟正黑體" panose="020B0604030504040204" pitchFamily="34" charset="-120"/>
              </a:rPr>
              <a:t>Pursuing new frontier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TW" sz="1600" b="1" dirty="0">
                <a:solidFill>
                  <a:prstClr val="white"/>
                </a:solidFill>
                <a:latin typeface="Gill Sans MT" panose="020B0502020104020203" pitchFamily="34" charset="0"/>
                <a:ea typeface="微軟正黑體" panose="020B0604030504040204" pitchFamily="34" charset="-120"/>
              </a:rPr>
              <a:t>Dreamers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TW" sz="1600" b="1" dirty="0">
                <a:solidFill>
                  <a:prstClr val="white"/>
                </a:solidFill>
                <a:latin typeface="Gill Sans MT" panose="020B0502020104020203" pitchFamily="34" charset="0"/>
                <a:ea typeface="微軟正黑體" panose="020B0604030504040204" pitchFamily="34" charset="-120"/>
              </a:rPr>
              <a:t>Usually  less versed with financial services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63362" y="4509120"/>
            <a:ext cx="2974328" cy="16017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4" name="圓角矩形 33"/>
          <p:cNvSpPr/>
          <p:nvPr/>
        </p:nvSpPr>
        <p:spPr>
          <a:xfrm>
            <a:off x="2895073" y="6079107"/>
            <a:ext cx="2884714" cy="724464"/>
          </a:xfrm>
          <a:prstGeom prst="round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prstClr val="white"/>
                </a:solidFill>
                <a:latin typeface="Gill Sans MT" panose="020B0502020104020203" pitchFamily="34" charset="0"/>
              </a:rPr>
              <a:t>Needs Active Dialogue and Collaboration</a:t>
            </a:r>
            <a:endParaRPr lang="zh-TW" altLang="en-US" b="1" dirty="0">
              <a:solidFill>
                <a:prstClr val="white"/>
              </a:solidFill>
              <a:latin typeface="Gill Sans MT" panose="020B0502020104020203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3700" y="1083857"/>
            <a:ext cx="2650675" cy="3112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prstClr val="black"/>
                </a:solidFill>
                <a:latin typeface="Gill Sans MT" panose="020B0502020104020203" pitchFamily="34" charset="0"/>
              </a:rPr>
              <a:t>Financial Institutions</a:t>
            </a:r>
            <a:endParaRPr lang="zh-TW" altLang="en-US" sz="2000" b="1" dirty="0">
              <a:solidFill>
                <a:prstClr val="black"/>
              </a:solidFill>
              <a:latin typeface="Gill Sans MT" panose="020B0502020104020203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520060" y="1099373"/>
            <a:ext cx="2827323" cy="3112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prstClr val="black"/>
                </a:solidFill>
                <a:latin typeface="Gill Sans MT" pitchFamily="34" charset="0"/>
                <a:ea typeface="微軟正黑體" pitchFamily="34" charset="-120"/>
                <a:cs typeface="Times New Roman" pitchFamily="18" charset="0"/>
              </a:rPr>
              <a:t>Technologists</a:t>
            </a:r>
            <a:endParaRPr lang="zh-TW" altLang="en-US" sz="2000" dirty="0">
              <a:solidFill>
                <a:prstClr val="black"/>
              </a:solidFill>
            </a:endParaRPr>
          </a:p>
        </p:txBody>
      </p:sp>
      <p:sp>
        <p:nvSpPr>
          <p:cNvPr id="32" name="圓角矩形圖說文字 31"/>
          <p:cNvSpPr/>
          <p:nvPr/>
        </p:nvSpPr>
        <p:spPr>
          <a:xfrm>
            <a:off x="578070" y="3071919"/>
            <a:ext cx="2695021" cy="1485687"/>
          </a:xfrm>
          <a:prstGeom prst="wedgeRoundRectCallout">
            <a:avLst>
              <a:gd name="adj1" fmla="val -2190"/>
              <a:gd name="adj2" fmla="val -68165"/>
              <a:gd name="adj3" fmla="val 16667"/>
            </a:avLst>
          </a:prstGeom>
          <a:solidFill>
            <a:srgbClr val="C96765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300"/>
              </a:spcAft>
              <a:buFont typeface="+mj-lt"/>
              <a:buAutoNum type="arabicPeriod"/>
            </a:pPr>
            <a:r>
              <a:rPr lang="en-US" altLang="zh-TW" sz="1600" b="1" dirty="0">
                <a:solidFill>
                  <a:prstClr val="white"/>
                </a:solidFill>
                <a:latin typeface="Gill Sans MT" panose="020B0502020104020203" pitchFamily="34" charset="0"/>
                <a:ea typeface="微軟正黑體" panose="020B0604030504040204" pitchFamily="34" charset="-120"/>
              </a:rPr>
              <a:t>Security conscious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/>
            </a:pPr>
            <a:r>
              <a:rPr lang="en-US" altLang="zh-TW" sz="1600" b="1" dirty="0">
                <a:solidFill>
                  <a:prstClr val="white"/>
                </a:solidFill>
                <a:latin typeface="Gill Sans MT" panose="020B0502020104020203" pitchFamily="34" charset="0"/>
                <a:ea typeface="微軟正黑體" panose="020B0604030504040204" pitchFamily="34" charset="-120"/>
              </a:rPr>
              <a:t>Risk aversion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/>
            </a:pPr>
            <a:r>
              <a:rPr lang="en-US" altLang="zh-TW" sz="1600" b="1" dirty="0">
                <a:solidFill>
                  <a:prstClr val="white"/>
                </a:solidFill>
                <a:latin typeface="Gill Sans MT" panose="020B0502020104020203" pitchFamily="34" charset="0"/>
                <a:ea typeface="微軟正黑體" panose="020B0604030504040204" pitchFamily="34" charset="-120"/>
              </a:rPr>
              <a:t>Practitioner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/>
            </a:pPr>
            <a:r>
              <a:rPr lang="en-US" altLang="zh-TW" sz="1600" b="1" dirty="0">
                <a:solidFill>
                  <a:prstClr val="white"/>
                </a:solidFill>
                <a:latin typeface="Gill Sans MT" panose="020B0502020104020203" pitchFamily="34" charset="0"/>
                <a:ea typeface="微軟正黑體" panose="020B0604030504040204" pitchFamily="34" charset="-120"/>
              </a:rPr>
              <a:t>Usually less versed with technology</a:t>
            </a:r>
          </a:p>
        </p:txBody>
      </p:sp>
      <p:sp>
        <p:nvSpPr>
          <p:cNvPr id="17" name="投影片編號版面配置區 1"/>
          <p:cNvSpPr>
            <a:spLocks noGrp="1"/>
          </p:cNvSpPr>
          <p:nvPr>
            <p:ph type="sldNum" sz="quarter" idx="12"/>
          </p:nvPr>
        </p:nvSpPr>
        <p:spPr>
          <a:xfrm>
            <a:off x="7020272" y="6558377"/>
            <a:ext cx="2133600" cy="365125"/>
          </a:xfrm>
        </p:spPr>
        <p:txBody>
          <a:bodyPr/>
          <a:lstStyle/>
          <a:p>
            <a:r>
              <a:rPr lang="en-US" altLang="zh-TW" dirty="0" smtClean="0"/>
              <a:t>20</a:t>
            </a:r>
            <a:endParaRPr lang="zh-TW" altLang="en-US" dirty="0"/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1" y="198537"/>
            <a:ext cx="914400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TW" sz="3200" b="1" dirty="0" smtClean="0">
                <a:latin typeface="Gill Sans MT" panose="020B0502020104020203" pitchFamily="34" charset="0"/>
                <a:ea typeface="微軟正黑體" pitchFamily="34" charset="-120"/>
                <a:cs typeface="Times New Roman" pitchFamily="18" charset="0"/>
              </a:rPr>
              <a:t>Bankers</a:t>
            </a:r>
            <a:r>
              <a:rPr lang="zh-TW" altLang="en-US" sz="3200" b="1" dirty="0" smtClean="0">
                <a:latin typeface="Gill Sans MT" panose="020B0502020104020203" pitchFamily="34" charset="0"/>
                <a:ea typeface="微軟正黑體" pitchFamily="34" charset="-120"/>
                <a:cs typeface="Times New Roman" pitchFamily="18" charset="0"/>
              </a:rPr>
              <a:t> </a:t>
            </a:r>
            <a:r>
              <a:rPr lang="en-US" altLang="zh-TW" sz="3200" b="1" dirty="0" smtClean="0">
                <a:latin typeface="Gill Sans MT" panose="020B0502020104020203" pitchFamily="34" charset="0"/>
                <a:ea typeface="微軟正黑體" pitchFamily="34" charset="-120"/>
                <a:cs typeface="Times New Roman" pitchFamily="18" charset="0"/>
              </a:rPr>
              <a:t>vs.  </a:t>
            </a:r>
            <a:r>
              <a:rPr lang="en-US" altLang="zh-TW" sz="3200" b="1" dirty="0" smtClean="0">
                <a:latin typeface="Gill Sans MT" panose="020B0502020104020203" pitchFamily="34" charset="0"/>
                <a:ea typeface="微軟正黑體" pitchFamily="34" charset="-120"/>
                <a:cs typeface="Times New Roman" pitchFamily="18" charset="0"/>
              </a:rPr>
              <a:t>Technologists </a:t>
            </a:r>
            <a:endParaRPr lang="zh-TW" altLang="en-US" sz="3200" b="1" dirty="0">
              <a:latin typeface="Gill Sans MT" panose="020B0502020104020203" pitchFamily="34" charset="0"/>
              <a:ea typeface="微軟正黑體" pitchFamily="34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50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33" grpId="0" animBg="1"/>
      <p:bldP spid="34" grpId="0" animBg="1"/>
      <p:bldP spid="6" grpId="0" animBg="1"/>
      <p:bldP spid="15" grpId="0" animBg="1"/>
      <p:bldP spid="3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8DA19-F1C9-47DF-A1DA-51C95E4BB9AB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3" name="橢圓 2"/>
          <p:cNvSpPr/>
          <p:nvPr/>
        </p:nvSpPr>
        <p:spPr>
          <a:xfrm>
            <a:off x="2453625" y="1104730"/>
            <a:ext cx="4171440" cy="4195403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/>
          <p:cNvSpPr/>
          <p:nvPr/>
        </p:nvSpPr>
        <p:spPr>
          <a:xfrm>
            <a:off x="5980061" y="4332648"/>
            <a:ext cx="1904307" cy="1832656"/>
          </a:xfrm>
          <a:prstGeom prst="ellipse">
            <a:avLst/>
          </a:prstGeom>
          <a:gradFill>
            <a:gsLst>
              <a:gs pos="0">
                <a:srgbClr val="996600"/>
              </a:gs>
              <a:gs pos="25000">
                <a:srgbClr val="CC9900"/>
              </a:gs>
              <a:gs pos="98000">
                <a:schemeClr val="accent6">
                  <a:lumMod val="60000"/>
                  <a:lumOff val="40000"/>
                </a:schemeClr>
              </a:gs>
            </a:gsLst>
          </a:gradFill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19146"/>
              <a:satOff val="-3881"/>
              <a:lumOff val="21347"/>
              <a:alphaOff val="0"/>
            </a:schemeClr>
          </a:fillRef>
          <a:effectRef idx="2">
            <a:schemeClr val="accent2">
              <a:shade val="50000"/>
              <a:hueOff val="-19146"/>
              <a:satOff val="-3881"/>
              <a:lumOff val="21347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橢圓 6"/>
          <p:cNvSpPr/>
          <p:nvPr/>
        </p:nvSpPr>
        <p:spPr>
          <a:xfrm>
            <a:off x="3769957" y="1427453"/>
            <a:ext cx="257796" cy="290979"/>
          </a:xfrm>
          <a:prstGeom prst="ellipse">
            <a:avLst/>
          </a:pr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19146"/>
              <a:satOff val="-3881"/>
              <a:lumOff val="21347"/>
              <a:alphaOff val="0"/>
            </a:schemeClr>
          </a:fillRef>
          <a:effectRef idx="2">
            <a:schemeClr val="accent2">
              <a:shade val="50000"/>
              <a:hueOff val="-19146"/>
              <a:satOff val="-3881"/>
              <a:lumOff val="21347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橢圓 7"/>
          <p:cNvSpPr/>
          <p:nvPr/>
        </p:nvSpPr>
        <p:spPr>
          <a:xfrm>
            <a:off x="1115616" y="1447944"/>
            <a:ext cx="1652835" cy="1670479"/>
          </a:xfrm>
          <a:prstGeom prst="ellipse">
            <a:avLst/>
          </a:prstGeom>
          <a:gradFill>
            <a:gsLst>
              <a:gs pos="100000">
                <a:srgbClr val="FFFF00"/>
              </a:gs>
              <a:gs pos="23015">
                <a:srgbClr val="FFFF00"/>
              </a:gs>
              <a:gs pos="0">
                <a:srgbClr val="FFFF99"/>
              </a:gs>
            </a:gsLst>
          </a:gra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angle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</p:sp>
      <p:sp>
        <p:nvSpPr>
          <p:cNvPr id="9" name="橢圓 8"/>
          <p:cNvSpPr/>
          <p:nvPr/>
        </p:nvSpPr>
        <p:spPr>
          <a:xfrm>
            <a:off x="4185166" y="1460479"/>
            <a:ext cx="197828" cy="209016"/>
          </a:xfrm>
          <a:prstGeom prst="ellipse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80000">
                <a:schemeClr val="accent2">
                  <a:shade val="50000"/>
                  <a:hueOff val="-19146"/>
                  <a:satOff val="-3881"/>
                  <a:lumOff val="21347"/>
                  <a:alphaOff val="0"/>
                  <a:shade val="93000"/>
                  <a:satMod val="130000"/>
                </a:schemeClr>
              </a:gs>
              <a:gs pos="100000">
                <a:schemeClr val="accent2">
                  <a:shade val="50000"/>
                  <a:hueOff val="-19146"/>
                  <a:satOff val="-3881"/>
                  <a:lumOff val="21347"/>
                  <a:alphaOff val="0"/>
                  <a:shade val="94000"/>
                  <a:satMod val="135000"/>
                </a:schemeClr>
              </a:gs>
            </a:gsLst>
          </a:gradFill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19146"/>
              <a:satOff val="-3881"/>
              <a:lumOff val="21347"/>
              <a:alphaOff val="0"/>
            </a:schemeClr>
          </a:fillRef>
          <a:effectRef idx="2">
            <a:schemeClr val="accent2">
              <a:shade val="50000"/>
              <a:hueOff val="-19146"/>
              <a:satOff val="-3881"/>
              <a:lumOff val="21347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橢圓 9"/>
          <p:cNvSpPr/>
          <p:nvPr/>
        </p:nvSpPr>
        <p:spPr>
          <a:xfrm>
            <a:off x="4368637" y="836713"/>
            <a:ext cx="520541" cy="536033"/>
          </a:xfrm>
          <a:prstGeom prst="ellipse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80000">
                <a:schemeClr val="accent2">
                  <a:shade val="50000"/>
                  <a:hueOff val="-19146"/>
                  <a:satOff val="-3881"/>
                  <a:lumOff val="21347"/>
                  <a:alphaOff val="0"/>
                  <a:shade val="93000"/>
                  <a:satMod val="130000"/>
                </a:schemeClr>
              </a:gs>
              <a:gs pos="100000">
                <a:schemeClr val="accent2">
                  <a:shade val="50000"/>
                  <a:hueOff val="-19146"/>
                  <a:satOff val="-3881"/>
                  <a:lumOff val="21347"/>
                  <a:alphaOff val="0"/>
                  <a:shade val="94000"/>
                  <a:satMod val="135000"/>
                </a:schemeClr>
              </a:gs>
            </a:gsLst>
          </a:gradFill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19146"/>
              <a:satOff val="-3881"/>
              <a:lumOff val="21347"/>
              <a:alphaOff val="0"/>
            </a:schemeClr>
          </a:fillRef>
          <a:effectRef idx="2">
            <a:schemeClr val="accent2">
              <a:shade val="50000"/>
              <a:hueOff val="-19146"/>
              <a:satOff val="-3881"/>
              <a:lumOff val="21347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橢圓 10"/>
          <p:cNvSpPr/>
          <p:nvPr/>
        </p:nvSpPr>
        <p:spPr>
          <a:xfrm>
            <a:off x="2689744" y="3637580"/>
            <a:ext cx="257796" cy="290979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80000">
                <a:schemeClr val="accent2">
                  <a:shade val="50000"/>
                  <a:hueOff val="-19146"/>
                  <a:satOff val="-3881"/>
                  <a:lumOff val="21347"/>
                  <a:alphaOff val="0"/>
                  <a:shade val="93000"/>
                  <a:satMod val="130000"/>
                </a:schemeClr>
              </a:gs>
              <a:gs pos="100000">
                <a:schemeClr val="accent2">
                  <a:shade val="50000"/>
                  <a:hueOff val="-19146"/>
                  <a:satOff val="-3881"/>
                  <a:lumOff val="21347"/>
                  <a:alphaOff val="0"/>
                  <a:shade val="94000"/>
                  <a:satMod val="135000"/>
                </a:schemeClr>
              </a:gs>
            </a:gsLst>
          </a:gradFill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19146"/>
              <a:satOff val="-3881"/>
              <a:lumOff val="21347"/>
              <a:alphaOff val="0"/>
            </a:schemeClr>
          </a:fillRef>
          <a:effectRef idx="2">
            <a:schemeClr val="accent2">
              <a:shade val="50000"/>
              <a:hueOff val="-19146"/>
              <a:satOff val="-3881"/>
              <a:lumOff val="21347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橢圓 11"/>
          <p:cNvSpPr/>
          <p:nvPr/>
        </p:nvSpPr>
        <p:spPr>
          <a:xfrm>
            <a:off x="3004570" y="4617568"/>
            <a:ext cx="554679" cy="553248"/>
          </a:xfrm>
          <a:prstGeom prst="ellipse">
            <a:avLst/>
          </a:pr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19146"/>
              <a:satOff val="-3881"/>
              <a:lumOff val="21347"/>
              <a:alphaOff val="0"/>
            </a:schemeClr>
          </a:fillRef>
          <a:effectRef idx="2">
            <a:schemeClr val="accent2">
              <a:shade val="50000"/>
              <a:hueOff val="-19146"/>
              <a:satOff val="-3881"/>
              <a:lumOff val="21347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橢圓 12"/>
          <p:cNvSpPr/>
          <p:nvPr/>
        </p:nvSpPr>
        <p:spPr>
          <a:xfrm>
            <a:off x="6310240" y="836712"/>
            <a:ext cx="1430705" cy="1486916"/>
          </a:xfrm>
          <a:prstGeom prst="ellipse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  <a:gs pos="65000">
                <a:schemeClr val="accent2">
                  <a:shade val="50000"/>
                  <a:hueOff val="-19146"/>
                  <a:satOff val="-3881"/>
                  <a:lumOff val="21347"/>
                  <a:alphaOff val="0"/>
                  <a:shade val="94000"/>
                  <a:satMod val="135000"/>
                </a:schemeClr>
              </a:gs>
            </a:gsLst>
          </a:gradFill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19146"/>
              <a:satOff val="-3881"/>
              <a:lumOff val="21347"/>
              <a:alphaOff val="0"/>
            </a:schemeClr>
          </a:fillRef>
          <a:effectRef idx="2">
            <a:schemeClr val="accent2">
              <a:shade val="50000"/>
              <a:hueOff val="-19146"/>
              <a:satOff val="-3881"/>
              <a:lumOff val="21347"/>
              <a:alphaOff val="0"/>
            </a:schemeClr>
          </a:effectRef>
          <a:fontRef idx="minor">
            <a:schemeClr val="lt1"/>
          </a:fontRef>
        </p:style>
      </p:sp>
      <p:sp>
        <p:nvSpPr>
          <p:cNvPr id="14" name="橢圓 13"/>
          <p:cNvSpPr/>
          <p:nvPr/>
        </p:nvSpPr>
        <p:spPr>
          <a:xfrm>
            <a:off x="1196954" y="5300133"/>
            <a:ext cx="333390" cy="362459"/>
          </a:xfrm>
          <a:prstGeom prst="ellipse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80000">
                <a:schemeClr val="accent2">
                  <a:shade val="50000"/>
                  <a:hueOff val="-19146"/>
                  <a:satOff val="-3881"/>
                  <a:lumOff val="21347"/>
                  <a:alphaOff val="0"/>
                  <a:shade val="93000"/>
                  <a:satMod val="130000"/>
                </a:schemeClr>
              </a:gs>
              <a:gs pos="100000">
                <a:schemeClr val="accent2">
                  <a:shade val="50000"/>
                  <a:hueOff val="-19146"/>
                  <a:satOff val="-3881"/>
                  <a:lumOff val="21347"/>
                  <a:alphaOff val="0"/>
                  <a:shade val="94000"/>
                  <a:satMod val="135000"/>
                </a:schemeClr>
              </a:gs>
            </a:gsLst>
          </a:gradFill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19146"/>
              <a:satOff val="-3881"/>
              <a:lumOff val="21347"/>
              <a:alphaOff val="0"/>
            </a:schemeClr>
          </a:fillRef>
          <a:effectRef idx="2">
            <a:schemeClr val="accent2">
              <a:shade val="50000"/>
              <a:hueOff val="-19146"/>
              <a:satOff val="-3881"/>
              <a:lumOff val="21347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橢圓 14"/>
          <p:cNvSpPr/>
          <p:nvPr/>
        </p:nvSpPr>
        <p:spPr>
          <a:xfrm>
            <a:off x="4531239" y="4855006"/>
            <a:ext cx="197828" cy="209016"/>
          </a:xfrm>
          <a:prstGeom prst="ellipse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80000">
                <a:schemeClr val="accent2">
                  <a:shade val="50000"/>
                  <a:hueOff val="-19146"/>
                  <a:satOff val="-3881"/>
                  <a:lumOff val="21347"/>
                  <a:alphaOff val="0"/>
                  <a:shade val="93000"/>
                  <a:satMod val="130000"/>
                </a:schemeClr>
              </a:gs>
              <a:gs pos="100000">
                <a:schemeClr val="accent2">
                  <a:shade val="50000"/>
                  <a:hueOff val="-19146"/>
                  <a:satOff val="-3881"/>
                  <a:lumOff val="21347"/>
                  <a:alphaOff val="0"/>
                  <a:shade val="94000"/>
                  <a:satMod val="135000"/>
                </a:schemeClr>
              </a:gs>
            </a:gsLst>
          </a:gradFill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19146"/>
              <a:satOff val="-3881"/>
              <a:lumOff val="21347"/>
              <a:alphaOff val="0"/>
            </a:schemeClr>
          </a:fillRef>
          <a:effectRef idx="2">
            <a:schemeClr val="accent2">
              <a:shade val="50000"/>
              <a:hueOff val="-19146"/>
              <a:satOff val="-3881"/>
              <a:lumOff val="21347"/>
              <a:alphaOff val="0"/>
            </a:schemeClr>
          </a:effectRef>
          <a:fontRef idx="minor">
            <a:schemeClr val="lt1"/>
          </a:fontRef>
        </p:style>
      </p:sp>
      <p:sp>
        <p:nvSpPr>
          <p:cNvPr id="19" name="文字方塊 18"/>
          <p:cNvSpPr txBox="1"/>
          <p:nvPr/>
        </p:nvSpPr>
        <p:spPr>
          <a:xfrm>
            <a:off x="3042887" y="1750943"/>
            <a:ext cx="3225477" cy="3208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zh-TW" sz="2400" dirty="0" smtClean="0">
                <a:solidFill>
                  <a:srgbClr val="FFC000"/>
                </a:solidFill>
                <a:latin typeface="Gill Sans MT" pitchFamily="34" charset="0"/>
                <a:ea typeface="微軟正黑體" pitchFamily="34" charset="-120"/>
                <a:cs typeface="Times New Roman" pitchFamily="18" charset="0"/>
              </a:rPr>
              <a:t>A cluster </a:t>
            </a:r>
            <a:r>
              <a:rPr lang="en-US" altLang="zh-TW" sz="2400" dirty="0">
                <a:solidFill>
                  <a:srgbClr val="FFC000"/>
                </a:solidFill>
                <a:latin typeface="Gill Sans MT" pitchFamily="34" charset="0"/>
                <a:ea typeface="微軟正黑體" pitchFamily="34" charset="-120"/>
                <a:cs typeface="Times New Roman" pitchFamily="18" charset="0"/>
              </a:rPr>
              <a:t>of </a:t>
            </a:r>
            <a:r>
              <a:rPr lang="en-US" altLang="zh-TW" sz="2400" dirty="0" smtClean="0">
                <a:solidFill>
                  <a:srgbClr val="FFC000"/>
                </a:solidFill>
                <a:latin typeface="Gill Sans MT" pitchFamily="34" charset="0"/>
                <a:ea typeface="微軟正黑體" pitchFamily="34" charset="-120"/>
                <a:cs typeface="Times New Roman" pitchFamily="18" charset="0"/>
              </a:rPr>
              <a:t>Innovations </a:t>
            </a:r>
            <a:r>
              <a:rPr lang="en-US" altLang="zh-TW" sz="2400" dirty="0">
                <a:solidFill>
                  <a:schemeClr val="bg1"/>
                </a:solidFill>
                <a:latin typeface="Gill Sans MT" pitchFamily="34" charset="0"/>
                <a:ea typeface="微軟正黑體" pitchFamily="34" charset="-120"/>
                <a:cs typeface="Times New Roman" pitchFamily="18" charset="0"/>
              </a:rPr>
              <a:t>involving the use of technology to make financial services </a:t>
            </a:r>
            <a:endParaRPr lang="en-US" altLang="zh-TW" sz="2400" dirty="0">
              <a:solidFill>
                <a:schemeClr val="bg1"/>
              </a:solidFill>
              <a:latin typeface="Gill Sans MT" pitchFamily="34" charset="0"/>
              <a:ea typeface="微軟正黑體" pitchFamily="34" charset="-120"/>
              <a:cs typeface="Times New Roman" pitchFamily="18" charset="0"/>
            </a:endParaRPr>
          </a:p>
          <a:p>
            <a:pPr>
              <a:lnSpc>
                <a:spcPts val="2700"/>
              </a:lnSpc>
            </a:pPr>
            <a:r>
              <a:rPr lang="en-US" altLang="zh-TW" sz="2400" dirty="0" smtClean="0">
                <a:solidFill>
                  <a:schemeClr val="bg1"/>
                </a:solidFill>
                <a:latin typeface="Gill Sans MT" pitchFamily="34" charset="0"/>
                <a:ea typeface="微軟正黑體" pitchFamily="34" charset="-120"/>
                <a:cs typeface="Times New Roman" pitchFamily="18" charset="0"/>
              </a:rPr>
              <a:t>more </a:t>
            </a:r>
            <a:r>
              <a:rPr lang="en-US" altLang="zh-TW" sz="2400" dirty="0">
                <a:solidFill>
                  <a:schemeClr val="bg1"/>
                </a:solidFill>
                <a:latin typeface="Gill Sans MT" pitchFamily="34" charset="0"/>
                <a:ea typeface="微軟正黑體" pitchFamily="34" charset="-120"/>
                <a:cs typeface="Times New Roman" pitchFamily="18" charset="0"/>
              </a:rPr>
              <a:t>efficient, </a:t>
            </a:r>
          </a:p>
          <a:p>
            <a:pPr>
              <a:lnSpc>
                <a:spcPts val="2700"/>
              </a:lnSpc>
            </a:pPr>
            <a:r>
              <a:rPr lang="en-US" altLang="zh-TW" sz="2400" dirty="0">
                <a:solidFill>
                  <a:schemeClr val="bg1"/>
                </a:solidFill>
                <a:latin typeface="Gill Sans MT" pitchFamily="34" charset="0"/>
                <a:ea typeface="微軟正黑體" pitchFamily="34" charset="-120"/>
                <a:cs typeface="Times New Roman" pitchFamily="18" charset="0"/>
              </a:rPr>
              <a:t>more effective, </a:t>
            </a:r>
          </a:p>
          <a:p>
            <a:pPr>
              <a:lnSpc>
                <a:spcPts val="2700"/>
              </a:lnSpc>
            </a:pPr>
            <a:r>
              <a:rPr lang="en-US" altLang="zh-TW" sz="2400" dirty="0">
                <a:solidFill>
                  <a:schemeClr val="bg1"/>
                </a:solidFill>
                <a:latin typeface="Gill Sans MT" pitchFamily="34" charset="0"/>
                <a:ea typeface="微軟正黑體" pitchFamily="34" charset="-120"/>
                <a:cs typeface="Times New Roman" pitchFamily="18" charset="0"/>
              </a:rPr>
              <a:t>more transparent, </a:t>
            </a:r>
          </a:p>
          <a:p>
            <a:pPr>
              <a:lnSpc>
                <a:spcPts val="2700"/>
              </a:lnSpc>
            </a:pPr>
            <a:r>
              <a:rPr lang="en-US" altLang="zh-TW" sz="2400" dirty="0">
                <a:solidFill>
                  <a:schemeClr val="bg1"/>
                </a:solidFill>
                <a:latin typeface="Gill Sans MT" pitchFamily="34" charset="0"/>
                <a:ea typeface="微軟正黑體" pitchFamily="34" charset="-120"/>
                <a:cs typeface="Times New Roman" pitchFamily="18" charset="0"/>
              </a:rPr>
              <a:t>more user-friendly, </a:t>
            </a:r>
            <a:endParaRPr lang="en-US" altLang="zh-TW" sz="2400" dirty="0" smtClean="0">
              <a:solidFill>
                <a:schemeClr val="bg1"/>
              </a:solidFill>
              <a:latin typeface="Gill Sans MT" pitchFamily="34" charset="0"/>
              <a:ea typeface="微軟正黑體" pitchFamily="34" charset="-120"/>
              <a:cs typeface="Times New Roman" pitchFamily="18" charset="0"/>
            </a:endParaRPr>
          </a:p>
          <a:p>
            <a:pPr>
              <a:lnSpc>
                <a:spcPts val="2700"/>
              </a:lnSpc>
            </a:pPr>
            <a:r>
              <a:rPr lang="en-US" altLang="zh-TW" sz="2400" dirty="0" smtClean="0">
                <a:solidFill>
                  <a:schemeClr val="bg1"/>
                </a:solidFill>
                <a:latin typeface="Gill Sans MT" pitchFamily="34" charset="0"/>
                <a:ea typeface="微軟正黑體" pitchFamily="34" charset="-120"/>
                <a:cs typeface="Times New Roman" pitchFamily="18" charset="0"/>
              </a:rPr>
              <a:t>more secure, etc.</a:t>
            </a:r>
            <a:endParaRPr lang="zh-TW" altLang="en-US" sz="2400" b="1" dirty="0">
              <a:solidFill>
                <a:schemeClr val="bg1"/>
              </a:solidFill>
            </a:endParaRPr>
          </a:p>
        </p:txBody>
      </p:sp>
      <p:sp>
        <p:nvSpPr>
          <p:cNvPr id="5" name="橢圓 4"/>
          <p:cNvSpPr/>
          <p:nvPr/>
        </p:nvSpPr>
        <p:spPr>
          <a:xfrm>
            <a:off x="6588224" y="2656831"/>
            <a:ext cx="948903" cy="1002172"/>
          </a:xfrm>
          <a:prstGeom prst="ellipse">
            <a:avLst/>
          </a:prstGeom>
          <a:blipFill rotWithShape="0">
            <a:blip r:embed="rId3" cstate="print"/>
            <a:stretch>
              <a:fillRect/>
            </a:stretch>
          </a:blipFill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2">
              <a:shade val="50000"/>
              <a:hueOff val="-12764"/>
              <a:satOff val="-2587"/>
              <a:lumOff val="14231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橢圓 5"/>
          <p:cNvSpPr/>
          <p:nvPr/>
        </p:nvSpPr>
        <p:spPr>
          <a:xfrm>
            <a:off x="1435101" y="4107582"/>
            <a:ext cx="1013864" cy="1013864"/>
          </a:xfrm>
          <a:prstGeom prst="ellipse">
            <a:avLst/>
          </a:prstGeom>
          <a:blipFill>
            <a:blip r:embed="rId4" cstate="print"/>
            <a:stretch>
              <a:fillRect/>
            </a:stretch>
          </a:blipFill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19146"/>
              <a:satOff val="-3881"/>
              <a:lumOff val="21347"/>
              <a:alphaOff val="0"/>
            </a:schemeClr>
          </a:fillRef>
          <a:effectRef idx="2">
            <a:schemeClr val="accent2">
              <a:shade val="50000"/>
              <a:hueOff val="-19146"/>
              <a:satOff val="-3881"/>
              <a:lumOff val="21347"/>
              <a:alphaOff val="0"/>
            </a:schemeClr>
          </a:effectRef>
          <a:fontRef idx="minor">
            <a:schemeClr val="lt1"/>
          </a:fontRef>
        </p:style>
      </p:sp>
      <p:sp>
        <p:nvSpPr>
          <p:cNvPr id="16" name="橢圓 15"/>
          <p:cNvSpPr/>
          <p:nvPr/>
        </p:nvSpPr>
        <p:spPr>
          <a:xfrm>
            <a:off x="4628907" y="5321061"/>
            <a:ext cx="1069320" cy="1083560"/>
          </a:xfrm>
          <a:prstGeom prst="ellipse">
            <a:avLst/>
          </a:prstGeom>
          <a:blipFill>
            <a:blip r:embed="rId5" cstate="print"/>
            <a:stretch>
              <a:fillRect/>
            </a:stretch>
          </a:blipFill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19146"/>
              <a:satOff val="-3881"/>
              <a:lumOff val="21347"/>
              <a:alphaOff val="0"/>
            </a:schemeClr>
          </a:fillRef>
          <a:effectRef idx="2">
            <a:schemeClr val="accent2">
              <a:shade val="50000"/>
              <a:hueOff val="-19146"/>
              <a:satOff val="-3881"/>
              <a:lumOff val="21347"/>
              <a:alphaOff val="0"/>
            </a:schemeClr>
          </a:effectRef>
          <a:fontRef idx="minor">
            <a:schemeClr val="lt1"/>
          </a:fontRef>
        </p:style>
      </p:sp>
      <p:sp>
        <p:nvSpPr>
          <p:cNvPr id="20" name="矩形 19"/>
          <p:cNvSpPr/>
          <p:nvPr/>
        </p:nvSpPr>
        <p:spPr>
          <a:xfrm>
            <a:off x="1227403" y="1944037"/>
            <a:ext cx="1429260" cy="759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1200150">
              <a:lnSpc>
                <a:spcPts val="26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TW" sz="2400" b="1" dirty="0">
                <a:latin typeface="Gill Sans MT" pitchFamily="34" charset="0"/>
                <a:ea typeface="微軟正黑體" pitchFamily="34" charset="-120"/>
              </a:rPr>
              <a:t>Looking forward</a:t>
            </a:r>
            <a:endParaRPr lang="zh-TW" altLang="en-US" sz="2400" b="1" dirty="0">
              <a:latin typeface="Gill Sans MT" pitchFamily="34" charset="0"/>
              <a:ea typeface="微軟正黑體" pitchFamily="34" charset="-12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260374" y="4788258"/>
            <a:ext cx="134368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latin typeface="Gill Sans MT" pitchFamily="34" charset="0"/>
                <a:ea typeface="微軟正黑體" pitchFamily="34" charset="-120"/>
              </a:rPr>
              <a:t>Standing down to earth</a:t>
            </a:r>
            <a:endParaRPr lang="zh-TW" altLang="en-US" sz="2000" b="1" dirty="0">
              <a:latin typeface="Gill Sans MT" pitchFamily="34" charset="0"/>
              <a:ea typeface="微軟正黑體" pitchFamily="34" charset="-120"/>
            </a:endParaRPr>
          </a:p>
          <a:p>
            <a:pPr algn="ctr"/>
            <a:endParaRPr lang="zh-TW" altLang="en-US" sz="1400" b="1" dirty="0">
              <a:latin typeface="Gill Sans MT" pitchFamily="34" charset="0"/>
              <a:ea typeface="微軟正黑體" pitchFamily="34" charset="-12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6255611" y="1349804"/>
            <a:ext cx="190984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200" b="1" dirty="0">
                <a:latin typeface="Gill Sans MT" pitchFamily="34" charset="0"/>
                <a:ea typeface="微軟正黑體" pitchFamily="34" charset="-120"/>
              </a:rPr>
              <a:t>Applications</a:t>
            </a:r>
            <a:endParaRPr lang="zh-TW" altLang="en-US" sz="2200" b="1" dirty="0">
              <a:latin typeface="Gill Sans MT" pitchFamily="34" charset="0"/>
              <a:ea typeface="微軟正黑體" pitchFamily="34" charset="-12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0255" y="49312"/>
            <a:ext cx="9155832" cy="609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06550" lvl="3" indent="-1244600" algn="ctr" defTabSz="182563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TW" sz="4400" b="1" dirty="0">
                <a:latin typeface="Gill Sans MT" pitchFamily="34" charset="0"/>
                <a:ea typeface="微軟正黑體" pitchFamily="34" charset="-120"/>
                <a:cs typeface="Times New Roman" pitchFamily="18" charset="0"/>
              </a:rPr>
              <a:t>Fin + Tech</a:t>
            </a:r>
            <a:endParaRPr lang="zh-TW" altLang="zh-TW" sz="4400" b="1" dirty="0">
              <a:latin typeface="Gill Sans MT" pitchFamily="34" charset="0"/>
              <a:ea typeface="微軟正黑體" pitchFamily="34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80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29BC9-AEDB-436A-80F0-0441055FB86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-117344" y="93234"/>
            <a:ext cx="9369864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TW" sz="3600" b="1" dirty="0" err="1" smtClean="0">
                <a:solidFill>
                  <a:prstClr val="black"/>
                </a:solidFill>
                <a:latin typeface="Gill Sans MT" panose="020B0502020104020203" pitchFamily="34" charset="0"/>
                <a:ea typeface="微軟正黑體" pitchFamily="34" charset="-120"/>
                <a:cs typeface="Times New Roman" pitchFamily="18" charset="0"/>
              </a:rPr>
              <a:t>FinTech</a:t>
            </a:r>
            <a:r>
              <a:rPr lang="en-US" altLang="zh-TW" sz="3600" b="1" dirty="0" smtClean="0">
                <a:solidFill>
                  <a:prstClr val="black"/>
                </a:solidFill>
                <a:latin typeface="Gill Sans MT" panose="020B0502020104020203" pitchFamily="34" charset="0"/>
                <a:ea typeface="微軟正黑體" pitchFamily="34" charset="-120"/>
                <a:cs typeface="Times New Roman" pitchFamily="18" charset="0"/>
              </a:rPr>
              <a:t> will reshape </a:t>
            </a:r>
            <a:r>
              <a:rPr lang="en-US" altLang="zh-TW" sz="3600" b="1" dirty="0" smtClean="0">
                <a:latin typeface="Gill Sans MT" panose="020B0502020104020203" pitchFamily="34" charset="0"/>
                <a:ea typeface="微軟正黑體" pitchFamily="34" charset="-120"/>
                <a:cs typeface="Times New Roman" pitchFamily="18" charset="0"/>
              </a:rPr>
              <a:t>our </a:t>
            </a:r>
            <a:r>
              <a:rPr lang="en-US" altLang="zh-TW" sz="3600" b="1" dirty="0" smtClean="0">
                <a:latin typeface="Gill Sans MT" panose="020B0502020104020203" pitchFamily="34" charset="0"/>
                <a:ea typeface="微軟正黑體" pitchFamily="34" charset="-120"/>
                <a:cs typeface="Times New Roman" pitchFamily="18" charset="0"/>
              </a:rPr>
              <a:t>lives! </a:t>
            </a:r>
            <a:endParaRPr lang="zh-TW" altLang="en-US" sz="3600" b="1" dirty="0">
              <a:latin typeface="Gill Sans MT" panose="020B0502020104020203" pitchFamily="34" charset="0"/>
              <a:ea typeface="微軟正黑體" pitchFamily="34" charset="-120"/>
              <a:cs typeface="Times New Roman" pitchFamily="18" charset="0"/>
            </a:endParaRPr>
          </a:p>
        </p:txBody>
      </p:sp>
      <p:pic>
        <p:nvPicPr>
          <p:cNvPr id="1026" name="Picture 2" descr="ãwef fintechãçåçæå°çµæ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813423"/>
            <a:ext cx="5923036" cy="575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 flipH="1">
            <a:off x="31083" y="770039"/>
            <a:ext cx="9073009" cy="6217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b="1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3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THEBLISSFULDOG_DOGSSMELLFEAR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84129" y="4188813"/>
            <a:ext cx="4275870" cy="2100289"/>
          </a:xfrm>
          <a:prstGeom prst="rect">
            <a:avLst/>
          </a:prstGeo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-24"/>
            <a:ext cx="9143999" cy="785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TW" sz="3800" b="1" dirty="0" smtClean="0">
                <a:latin typeface="Gill Sans MT" pitchFamily="34" charset="0"/>
                <a:ea typeface="微軟正黑體" pitchFamily="34" charset="-120"/>
                <a:cs typeface="Times New Roman" pitchFamily="18" charset="0"/>
              </a:rPr>
              <a:t>Human </a:t>
            </a:r>
            <a:r>
              <a:rPr lang="en-US" altLang="zh-TW" sz="3800" b="1" dirty="0">
                <a:latin typeface="Gill Sans MT" pitchFamily="34" charset="0"/>
                <a:ea typeface="微軟正黑體" pitchFamily="34" charset="-120"/>
                <a:cs typeface="Times New Roman" pitchFamily="18" charset="0"/>
              </a:rPr>
              <a:t>Wisdom </a:t>
            </a:r>
            <a:r>
              <a:rPr lang="en-US" altLang="zh-TW" sz="3800" b="1" dirty="0" smtClean="0">
                <a:latin typeface="Gill Sans MT" pitchFamily="34" charset="0"/>
                <a:ea typeface="微軟正黑體" pitchFamily="34" charset="-120"/>
                <a:cs typeface="Times New Roman" pitchFamily="18" charset="0"/>
              </a:rPr>
              <a:t>remains</a:t>
            </a:r>
            <a:r>
              <a:rPr lang="en-US" altLang="zh-TW" sz="3800" b="1" dirty="0" smtClean="0">
                <a:latin typeface="Gill Sans MT" pitchFamily="34" charset="0"/>
                <a:ea typeface="微軟正黑體" pitchFamily="34" charset="-120"/>
                <a:cs typeface="Times New Roman" pitchFamily="18" charset="0"/>
              </a:rPr>
              <a:t> </a:t>
            </a:r>
            <a:r>
              <a:rPr lang="en-US" altLang="zh-TW" sz="3800" b="1" dirty="0">
                <a:latin typeface="Gill Sans MT" pitchFamily="34" charset="0"/>
                <a:ea typeface="微軟正黑體" pitchFamily="34" charset="-120"/>
                <a:cs typeface="Times New Roman" pitchFamily="18" charset="0"/>
              </a:rPr>
              <a:t>the Core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107503" y="1023030"/>
            <a:ext cx="8928992" cy="769441"/>
          </a:xfrm>
          <a:prstGeom prst="rect">
            <a:avLst/>
          </a:prstGeom>
          <a:gradFill>
            <a:gsLst>
              <a:gs pos="0">
                <a:schemeClr val="dk1">
                  <a:tint val="50000"/>
                  <a:satMod val="300000"/>
                  <a:alpha val="73000"/>
                  <a:lumMod val="86000"/>
                  <a:lumOff val="14000"/>
                </a:schemeClr>
              </a:gs>
              <a:gs pos="35000">
                <a:schemeClr val="dk1">
                  <a:tint val="37000"/>
                  <a:satMod val="300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TW" sz="2200" dirty="0" smtClean="0">
                <a:solidFill>
                  <a:srgbClr val="C00000"/>
                </a:solidFill>
                <a:latin typeface="Gill Sans MT"/>
              </a:rPr>
              <a:t>Souls</a:t>
            </a:r>
            <a:r>
              <a:rPr lang="en-US" altLang="zh-TW" sz="2200" dirty="0">
                <a:latin typeface="Gill Sans MT"/>
              </a:rPr>
              <a:t> </a:t>
            </a:r>
            <a:r>
              <a:rPr lang="en-US" altLang="zh-TW" sz="2200" dirty="0" smtClean="0">
                <a:latin typeface="Gill Sans MT"/>
              </a:rPr>
              <a:t>and</a:t>
            </a:r>
            <a:r>
              <a:rPr lang="en-US" altLang="zh-TW" sz="2200" dirty="0" smtClean="0">
                <a:latin typeface="Gill Sans MT"/>
              </a:rPr>
              <a:t> </a:t>
            </a:r>
            <a:r>
              <a:rPr lang="en-US" altLang="zh-TW" sz="2200" dirty="0">
                <a:solidFill>
                  <a:srgbClr val="C00000"/>
                </a:solidFill>
                <a:latin typeface="Gill Sans MT"/>
              </a:rPr>
              <a:t>Spirits</a:t>
            </a:r>
            <a:r>
              <a:rPr lang="en-US" altLang="zh-TW" sz="2200" dirty="0">
                <a:latin typeface="Gill Sans MT"/>
              </a:rPr>
              <a:t> </a:t>
            </a:r>
            <a:endParaRPr lang="en-US" altLang="zh-TW" sz="2200" dirty="0" smtClean="0">
              <a:latin typeface="Gill Sans MT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TW" sz="2200" dirty="0" smtClean="0">
                <a:solidFill>
                  <a:srgbClr val="C00000"/>
                </a:solidFill>
                <a:latin typeface="Gill Sans MT"/>
              </a:rPr>
              <a:t>Science</a:t>
            </a:r>
            <a:r>
              <a:rPr lang="en-US" altLang="zh-TW" sz="2200" dirty="0" smtClean="0">
                <a:latin typeface="Gill Sans MT"/>
              </a:rPr>
              <a:t> and </a:t>
            </a:r>
            <a:r>
              <a:rPr lang="en-US" altLang="zh-TW" sz="2200" dirty="0">
                <a:solidFill>
                  <a:srgbClr val="C00000"/>
                </a:solidFill>
                <a:latin typeface="Gill Sans MT"/>
              </a:rPr>
              <a:t>Art</a:t>
            </a:r>
            <a:r>
              <a:rPr lang="en-US" altLang="zh-TW" sz="2200" dirty="0" smtClean="0">
                <a:latin typeface="Gill Sans MT"/>
              </a:rPr>
              <a:t>.</a:t>
            </a:r>
            <a:endParaRPr lang="en-US" altLang="zh-TW" sz="2200" dirty="0">
              <a:latin typeface="Gill Sans MT"/>
            </a:endParaRPr>
          </a:p>
        </p:txBody>
      </p:sp>
      <p:grpSp>
        <p:nvGrpSpPr>
          <p:cNvPr id="2" name="群組 10"/>
          <p:cNvGrpSpPr/>
          <p:nvPr/>
        </p:nvGrpSpPr>
        <p:grpSpPr>
          <a:xfrm>
            <a:off x="467544" y="3573016"/>
            <a:ext cx="2985300" cy="2376263"/>
            <a:chOff x="1285852" y="4534414"/>
            <a:chExt cx="2571772" cy="2571771"/>
          </a:xfrm>
        </p:grpSpPr>
        <p:pic>
          <p:nvPicPr>
            <p:cNvPr id="1028" name="Picture 4" descr="「soul」的圖片搜尋結果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85852" y="4534414"/>
              <a:ext cx="2571772" cy="2571771"/>
            </a:xfrm>
            <a:prstGeom prst="rect">
              <a:avLst/>
            </a:prstGeom>
            <a:noFill/>
          </p:spPr>
        </p:pic>
        <p:sp>
          <p:nvSpPr>
            <p:cNvPr id="10" name="文字方塊 9"/>
            <p:cNvSpPr txBox="1"/>
            <p:nvPr/>
          </p:nvSpPr>
          <p:spPr>
            <a:xfrm>
              <a:off x="1559445" y="5779229"/>
              <a:ext cx="1829251" cy="7661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000" b="1" dirty="0">
                  <a:solidFill>
                    <a:schemeClr val="bg1"/>
                  </a:solidFill>
                  <a:latin typeface="Gill Sans MT"/>
                </a:rPr>
                <a:t>SPIRIT</a:t>
              </a:r>
              <a:endParaRPr lang="zh-TW" altLang="en-US" sz="4000" b="1" dirty="0">
                <a:solidFill>
                  <a:schemeClr val="bg1"/>
                </a:solidFill>
                <a:latin typeface="Gill Sans MT"/>
              </a:endParaRPr>
            </a:p>
          </p:txBody>
        </p:sp>
      </p:grpSp>
      <p:sp>
        <p:nvSpPr>
          <p:cNvPr id="12" name="文字方塊 11"/>
          <p:cNvSpPr txBox="1"/>
          <p:nvPr/>
        </p:nvSpPr>
        <p:spPr>
          <a:xfrm>
            <a:off x="5724128" y="3626124"/>
            <a:ext cx="2357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solidFill>
                  <a:srgbClr val="CC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</a:t>
            </a:r>
            <a:endParaRPr lang="zh-TW" altLang="en-US" sz="4000" b="1" dirty="0">
              <a:solidFill>
                <a:srgbClr val="CC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67544" y="5904382"/>
            <a:ext cx="36030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latin typeface="Gabriola" pitchFamily="82" charset="0"/>
                <a:ea typeface="Gungsuh" pitchFamily="18" charset="-127"/>
              </a:rPr>
              <a:t>Human Wisdom</a:t>
            </a:r>
            <a:endParaRPr lang="zh-TW" altLang="en-US" sz="4400" b="1" dirty="0">
              <a:latin typeface="Gabriola" pitchFamily="82" charset="0"/>
              <a:ea typeface="Gungsuh" pitchFamily="18" charset="-127"/>
            </a:endParaRPr>
          </a:p>
        </p:txBody>
      </p:sp>
      <p:sp>
        <p:nvSpPr>
          <p:cNvPr id="11" name="投影片編號版面配置區 1"/>
          <p:cNvSpPr>
            <a:spLocks noGrp="1"/>
          </p:cNvSpPr>
          <p:nvPr>
            <p:ph type="sldNum" sz="quarter" idx="12"/>
          </p:nvPr>
        </p:nvSpPr>
        <p:spPr>
          <a:xfrm>
            <a:off x="7010432" y="6564337"/>
            <a:ext cx="2133600" cy="365125"/>
          </a:xfrm>
        </p:spPr>
        <p:txBody>
          <a:bodyPr/>
          <a:lstStyle/>
          <a:p>
            <a:r>
              <a:rPr lang="en-US" altLang="zh-TW" dirty="0" smtClean="0"/>
              <a:t>36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9367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752" y="116632"/>
            <a:ext cx="91440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TW" sz="3600" b="1" dirty="0">
                <a:latin typeface="Gill Sans MT" panose="020B0502020104020203" pitchFamily="34" charset="0"/>
                <a:ea typeface="微軟正黑體" pitchFamily="34" charset="-120"/>
                <a:cs typeface="Times New Roman" pitchFamily="18" charset="0"/>
              </a:rPr>
              <a:t>Mutual Enlightenment &amp; Cooperation</a:t>
            </a:r>
            <a:endParaRPr lang="zh-TW" altLang="en-US" sz="3600" b="1" dirty="0">
              <a:latin typeface="Gill Sans MT" panose="020B0502020104020203" pitchFamily="34" charset="0"/>
              <a:ea typeface="微軟正黑體" pitchFamily="34" charset="-120"/>
              <a:cs typeface="Times New Roman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95536" y="105273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TW" sz="2400" dirty="0">
              <a:latin typeface="Gill Sans MT" panose="020B0502020104020203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63688" y="1988839"/>
            <a:ext cx="5601631" cy="3795565"/>
          </a:xfrm>
          <a:prstGeom prst="rect">
            <a:avLst/>
          </a:prstGeom>
        </p:spPr>
      </p:pic>
      <p:sp>
        <p:nvSpPr>
          <p:cNvPr id="6" name="投影片編號版面配置區 1"/>
          <p:cNvSpPr>
            <a:spLocks noGrp="1"/>
          </p:cNvSpPr>
          <p:nvPr>
            <p:ph type="sldNum" sz="quarter" idx="12"/>
          </p:nvPr>
        </p:nvSpPr>
        <p:spPr>
          <a:xfrm>
            <a:off x="7010432" y="6564337"/>
            <a:ext cx="2133600" cy="365125"/>
          </a:xfrm>
        </p:spPr>
        <p:txBody>
          <a:bodyPr/>
          <a:lstStyle/>
          <a:p>
            <a:r>
              <a:rPr lang="en-US" altLang="zh-TW" dirty="0" smtClean="0"/>
              <a:t>46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71802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129757"/>
            <a:ext cx="9143999" cy="785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TW" sz="3600" b="1" dirty="0">
                <a:latin typeface="Gill Sans MT" pitchFamily="34" charset="0"/>
                <a:ea typeface="微軟正黑體" pitchFamily="34" charset="-120"/>
                <a:cs typeface="Times New Roman" pitchFamily="18" charset="0"/>
              </a:rPr>
              <a:t>Opportunities and Challenges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9" y="980728"/>
            <a:ext cx="7848871" cy="4585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1151620" y="5786100"/>
            <a:ext cx="6912768" cy="52322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 smtClean="0">
                <a:latin typeface="Gill Sans MT"/>
              </a:rPr>
              <a:t>We will continue </a:t>
            </a:r>
            <a:r>
              <a:rPr lang="en-US" altLang="zh-TW" sz="2800" dirty="0" smtClean="0">
                <a:latin typeface="Gill Sans MT"/>
              </a:rPr>
              <a:t>exploring </a:t>
            </a:r>
            <a:r>
              <a:rPr lang="en-US" altLang="zh-TW" sz="2800" dirty="0" err="1" smtClean="0">
                <a:latin typeface="Gill Sans MT"/>
              </a:rPr>
              <a:t>FinTech</a:t>
            </a:r>
            <a:r>
              <a:rPr lang="en-US" altLang="zh-TW" sz="2800" dirty="0" smtClean="0">
                <a:latin typeface="Gill Sans MT"/>
              </a:rPr>
              <a:t>!</a:t>
            </a:r>
            <a:endParaRPr lang="en-US" altLang="zh-TW" sz="2800" dirty="0">
              <a:latin typeface="Gill Sans M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3569" y="3933056"/>
            <a:ext cx="790100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Cross the River whilst Touching the Stones!</a:t>
            </a:r>
          </a:p>
        </p:txBody>
      </p:sp>
      <p:sp>
        <p:nvSpPr>
          <p:cNvPr id="7" name="投影片編號版面配置區 1"/>
          <p:cNvSpPr>
            <a:spLocks noGrp="1"/>
          </p:cNvSpPr>
          <p:nvPr>
            <p:ph type="sldNum" sz="quarter" idx="12"/>
          </p:nvPr>
        </p:nvSpPr>
        <p:spPr>
          <a:xfrm>
            <a:off x="7010432" y="6564337"/>
            <a:ext cx="2133600" cy="365125"/>
          </a:xfrm>
        </p:spPr>
        <p:txBody>
          <a:bodyPr/>
          <a:lstStyle/>
          <a:p>
            <a:r>
              <a:rPr lang="en-US" altLang="zh-TW" dirty="0" smtClean="0"/>
              <a:t>48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0050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51583</TotalTime>
  <Words>126</Words>
  <Application>Microsoft Office PowerPoint</Application>
  <PresentationFormat>如螢幕大小 (4:3)</PresentationFormat>
  <Paragraphs>41</Paragraphs>
  <Slides>6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6" baseType="lpstr">
      <vt:lpstr>Gungsuh</vt:lpstr>
      <vt:lpstr>微軟正黑體</vt:lpstr>
      <vt:lpstr>新細明體</vt:lpstr>
      <vt:lpstr>Arial</vt:lpstr>
      <vt:lpstr>Calibri</vt:lpstr>
      <vt:lpstr>Gabriola</vt:lpstr>
      <vt:lpstr>Gill Sans MT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自由經濟示範區與臺灣金融業發展</dc:title>
  <dc:creator>邱靖懿</dc:creator>
  <cp:lastModifiedBy>134617</cp:lastModifiedBy>
  <cp:revision>3073</cp:revision>
  <cp:lastPrinted>2018-07-16T07:39:13Z</cp:lastPrinted>
  <dcterms:created xsi:type="dcterms:W3CDTF">2014-06-11T04:01:41Z</dcterms:created>
  <dcterms:modified xsi:type="dcterms:W3CDTF">2018-12-07T05:39:49Z</dcterms:modified>
</cp:coreProperties>
</file>